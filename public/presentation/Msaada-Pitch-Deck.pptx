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Opening line: "Msaada means help — this is help that reaches the household first."
- Why we built it: 90% of Kenyans who need mental-health support never reach the system — yet a CHV already walks past their door every week.
- One-breath pitch: capture a natural observation, structure it safely, route the right workflow, track the outcome.
- Credit the builder: Roy Wanyoike — code at github.com/Roy-Wanyoike/msaada; live demo comes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- 90% treatment gap — the pipeline fails long before treatment ever starts.
- 90,000+ CHVs are often the only observer inside the household — armed with paper notebooks, no routing tool.
- The earliest signals — a sleepless mother, a withdrawn child, a hopeless father — are captured nowhere; zero structured records.
- Reframe for judges: not a treatment failure, a detection &amp; routing failure — the connective tissue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Core contrast: consumer mental-health chatbots talk TO people — Msaada instruments the workforce that already talks WITH them.
- The workforce already exists (90,000+ CHVs); Msaada adds the intelligence and safety layer around it.
- Read the thesis verbatim; pause on "visible, actionable and trackable".
- The four cards preview the demo: natural input, AI structuring, deterministic policy, county-level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five steps left to right in under a minute, using one concrete example sentence.
- Emphasise steps 2 and 4 are NOT AI steps — deterministic code and a versioned policy engine.
- Step 2: the raw observation is never persisted; PII is stripped before anything is stored.
- Step 4: crisis_override fires by rule, not by model confidence.
- Land on the BEFORE→AFTER strip: notebook-to-acute-incident becomes early community-level intervention.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slide is our answer to "is AI in mental health safe?" — the model never decides.
- crisis_override fires by deterministic rule at the point of observation; model confidence plays no role in escalation.
- The panel is non-dismissable: Kenya Red Cross 1199, Befrienders Kenya +254 722 178 177, and the do-not-leave-the-household instruction.
- PII is discarded by construction — dashboards never read indicator text.
- Policy engine v1.0.0 is versioned and auditable: every decision records which policy version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Core claim: "referral created" is not "help received" — typical tools close the record and go dark.
- Msaada tracks the full lifecycle: CREATED, SENT, ACKNOWLEDGED, IN_PROGRESS, COMPLETED — plus follow-ups PENDING, DONE or MISSED.
- Outcome-tracking is what counties actually buy: visibility into results, not activity.
- Volunteers get follow-up reminders instead of forgotten cases.
- Households → encounters → triage records → referrals: the identity chain is queryable for audit and supervision.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 ride the eCHIS digitisation wave instead of inventing a parallel system.
- Kenya Mental Health Policy 2015–2030 explicitly calls for community-level integration — the exact layer Msaada fills.
- ODPC alignment is by construction: de-identification at the data layer, sensitive personal data handled per the Data Protection Act.
- Institution-led onboarding: county admin → community health officers → CHVs; no self-signup, every account traces to an institution.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Connectivity is not a luxury — the tool assumes the network will disappear mid-visit.
- Drafts queue on-device the moment a visit ends; they flush to Supabase on reconnect (upsert by client UUID, duplicates impossible).
- Draft-queue flush reasons are explicit: offline / not configured / not signed in.
- A crisis observed offline is still captured, timestamped and routed on sync — no lost signals.
- Input modes: spoken dictation, typed notes, Eng/Swa/Sheng mixed.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Judged on engineering: typed, tested, audited, deployable.
- 13/13 end-to-end smoke checks run on every release — live Qwen triage, auth, sync, crisis override included.
- Policy engine v1.0.0 is versioned and auditable: every decision records which policy version decided.
- Zero secrets in the repo — keys resolve lazily and config fails fast in production.
- Stack: Next.js 16 Turbopack, Qwen via ModelScope, Supabase SSR auth, Prisma, Tailwind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Rehearse the exact Sheng observation before presenting.
- fallbackUsed=false means the live model answered, not a canned response.
- Crisis panel is non-dismissable: 1199, Befrienders line, do-not-leave instruction.
- Fresh deployments seed demo data automatically — zero manual setup for judges.
- Walk /dashboard, /cases, /admin and /status only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NOW is shipped — everything else is design intent on a working core.
- Voice: chat stays on ModelScope; speech via DashScope qwen3-asr escape hatch.
- Name Haki as a conscious scope decision, not vaporware.
- Same deterministic safety layer at every stage — new input channels, unchanged guarantees.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judges.
- Invite them to try the demo on their own phone — it is seeded automatically and works on first load.
- Close on the thesis: the earliest signals are already in the community; Msaada is the layer that hears them.
- Crisis lines remain visible: Kenya Red Cross 1199, Befrienders Kenya +254 722 178 177.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5875" y="-1500187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285875" y="-1500187"/>
            <a:ext cx="4000500" cy="4000500"/>
          </a:xfrm>
          <a:prstGeom prst="ellipse">
            <a:avLst/>
          </a:prstGeom>
          <a:solidFill>
            <a:srgbClr val="0D948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3786188"/>
            <a:ext cx="2714625" cy="2714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0" y="3786188"/>
            <a:ext cx="2714625" cy="2714625"/>
          </a:xfrm>
          <a:prstGeom prst="ellipse">
            <a:avLst/>
          </a:prstGeom>
          <a:solidFill>
            <a:srgbClr val="0D948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514350" y="4514850"/>
            <a:ext cx="4143375" cy="0"/>
          </a:xfrm>
          <a:prstGeom prst="line">
            <a:avLst/>
          </a:prstGeom>
          <a:noFill/>
          <a:ln w="7144">
            <a:solidFill>
              <a:srgbClr val="DCE9E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204222" y="175022"/>
            <a:ext cx="3764756" cy="4793456"/>
          </a:xfrm>
          <a:prstGeom prst="roundRect">
            <a:avLst>
              <a:gd name="adj" fmla="val 4048"/>
            </a:avLst>
          </a:prstGeom>
          <a:noFill/>
          <a:ln w="7144">
            <a:solidFill>
              <a:srgbClr val="0D9488"/>
            </a:solidFill>
            <a:prstDash val="solid"/>
          </a:ln>
          <a:effectLst>
            <a:outerShdw sx="100000" sy="100000" kx="0" ky="0" algn="bl" rotWithShape="0" blurRad="533400" dist="266700" dir="5400000">
              <a:srgbClr val="0E3A3D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90367809421-v9ucp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794" y="178594"/>
            <a:ext cx="3757613" cy="478631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94" y="178594"/>
            <a:ext cx="3757613" cy="47863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4350" y="483989"/>
            <a:ext cx="171450" cy="28575"/>
          </a:xfrm>
          <a:prstGeom prst="roundRect">
            <a:avLst>
              <a:gd name="adj" fmla="val 33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771525" y="428625"/>
            <a:ext cx="3886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HACK FOR HUMANITY · WITH QWEN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514350" y="1620962"/>
            <a:ext cx="5303520" cy="503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b="1" spc="-90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Msaada</a:t>
            </a:r>
            <a:endParaRPr lang="en-US" sz="3600" dirty="0"/>
          </a:p>
        </p:txBody>
      </p:sp>
      <p:sp>
        <p:nvSpPr>
          <p:cNvPr id="13" name="Text 7"/>
          <p:cNvSpPr/>
          <p:nvPr/>
        </p:nvSpPr>
        <p:spPr>
          <a:xfrm>
            <a:off x="514350" y="2258653"/>
            <a:ext cx="1071563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514350" y="2494397"/>
            <a:ext cx="4474845" cy="260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63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 reaches the household first.</a:t>
            </a:r>
            <a:endParaRPr lang="en-US" sz="1463" dirty="0"/>
          </a:p>
        </p:txBody>
      </p:sp>
      <p:sp>
        <p:nvSpPr>
          <p:cNvPr id="15" name="Text 9"/>
          <p:cNvSpPr/>
          <p:nvPr/>
        </p:nvSpPr>
        <p:spPr>
          <a:xfrm>
            <a:off x="514350" y="2850133"/>
            <a:ext cx="3714750" cy="656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8"/>
              </a:lnSpc>
              <a:buNone/>
            </a:pPr>
            <a:r>
              <a:rPr lang="en-US" sz="928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home-visit mental-health triage platform for Kenya’s </a:t>
            </a:r>
            <a:pPr algn="l" indent="0" marL="0">
              <a:lnSpc>
                <a:spcPts val="1578"/>
              </a:lnSpc>
              <a:buNone/>
            </a:pPr>
            <a:r>
              <a:rPr lang="en-US" sz="928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90,000+</a:t>
            </a:r>
            <a:pPr algn="l" indent="0" marL="0">
              <a:lnSpc>
                <a:spcPts val="1578"/>
              </a:lnSpc>
              <a:buNone/>
            </a:pPr>
            <a:r>
              <a:rPr lang="en-US" sz="928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Community Health Volunteers — capture a natural observation, structure it safely, route the right workflow, track the outcome.</a:t>
            </a:r>
            <a:endParaRPr lang="en-US" sz="928" dirty="0"/>
          </a:p>
        </p:txBody>
      </p:sp>
      <p:sp>
        <p:nvSpPr>
          <p:cNvPr id="16" name="Text 10"/>
          <p:cNvSpPr/>
          <p:nvPr/>
        </p:nvSpPr>
        <p:spPr>
          <a:xfrm>
            <a:off x="514350" y="4647009"/>
            <a:ext cx="23661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Roy Wanyoike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msaada — CHV triage system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3044800" y="4656832"/>
            <a:ext cx="17097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github.com/Roy-Wanyoike/msaada</a:t>
            </a:r>
            <a:endParaRPr lang="en-US" sz="703" dirty="0"/>
          </a:p>
        </p:txBody>
      </p:sp>
      <p:sp>
        <p:nvSpPr>
          <p:cNvPr id="18" name="Text 12"/>
          <p:cNvSpPr/>
          <p:nvPr/>
        </p:nvSpPr>
        <p:spPr>
          <a:xfrm>
            <a:off x="5018484" y="4261247"/>
            <a:ext cx="2028825" cy="464344"/>
          </a:xfrm>
          <a:prstGeom prst="roundRect">
            <a:avLst>
              <a:gd name="adj" fmla="val 28718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  <a:effectLst>
            <a:outerShdw sx="100000" sy="100000" kx="0" ky="0" algn="bl" rotWithShape="0" blurRad="342900" dist="171450" dir="5400000">
              <a:srgbClr val="0E3A3D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5100638" y="4343400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131534" y="4374297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617" dirty="0"/>
          </a:p>
        </p:txBody>
      </p:sp>
      <p:sp>
        <p:nvSpPr>
          <p:cNvPr id="21" name="Text 15"/>
          <p:cNvSpPr/>
          <p:nvPr/>
        </p:nvSpPr>
        <p:spPr>
          <a:xfrm>
            <a:off x="5486400" y="4413052"/>
            <a:ext cx="15144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CHVs, not chatbots</a:t>
            </a:r>
            <a:endParaRPr lang="en-US" sz="8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55414"/>
            <a:ext cx="171450" cy="28575"/>
          </a:xfrm>
          <a:prstGeom prst="roundRect">
            <a:avLst>
              <a:gd name="adj" fmla="val 33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00050"/>
            <a:ext cx="8029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653653"/>
            <a:ext cx="8072438" cy="71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3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Kenya’s mental-health gap is not a treatment failure — it is a </a:t>
            </a:r>
            <a:pPr algn="l" indent="0" marL="0">
              <a:lnSpc>
                <a:spcPts val="2610"/>
              </a:lnSpc>
              <a:buNone/>
            </a:pPr>
            <a:r>
              <a:rPr lang="en-US" sz="2250" b="1" spc="-34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detection &amp; routing failure.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32197" y="1520056"/>
            <a:ext cx="4964906" cy="796417"/>
          </a:xfrm>
          <a:prstGeom prst="roundRect">
            <a:avLst>
              <a:gd name="adj" fmla="val 19136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7219" y="1753902"/>
            <a:ext cx="228600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spc="-26" kern="0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90%+</a:t>
            </a:r>
            <a:endParaRPr lang="en-US" sz="2588" dirty="0"/>
          </a:p>
        </p:txBody>
      </p:sp>
      <p:sp>
        <p:nvSpPr>
          <p:cNvPr id="7" name="Text 5"/>
          <p:cNvSpPr/>
          <p:nvPr/>
        </p:nvSpPr>
        <p:spPr>
          <a:xfrm>
            <a:off x="2178844" y="1765176"/>
            <a:ext cx="3043238" cy="348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Kenyans who need mental-health support never receive it (Kenya Mental Health Policy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2015–2030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2197" y="2423629"/>
            <a:ext cx="4964906" cy="796528"/>
          </a:xfrm>
          <a:prstGeom prst="roundRect">
            <a:avLst>
              <a:gd name="adj" fmla="val 19133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219" y="2657587"/>
            <a:ext cx="215741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spc="-26" kern="0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90,000+</a:t>
            </a:r>
            <a:endParaRPr lang="en-US" sz="2588" dirty="0"/>
          </a:p>
        </p:txBody>
      </p:sp>
      <p:sp>
        <p:nvSpPr>
          <p:cNvPr id="10" name="Text 8"/>
          <p:cNvSpPr/>
          <p:nvPr/>
        </p:nvSpPr>
        <p:spPr>
          <a:xfrm>
            <a:off x="2178844" y="2668860"/>
            <a:ext cx="3043238" cy="348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CHVs across all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0E3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counties, each covering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0E3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100–500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households — volunteers with paper notebooks and no routing tool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2197" y="3327313"/>
            <a:ext cx="4964906" cy="796417"/>
          </a:xfrm>
          <a:prstGeom prst="roundRect">
            <a:avLst>
              <a:gd name="adj" fmla="val 19136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7219" y="3561159"/>
            <a:ext cx="228600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spc="-26" kern="0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2588" dirty="0"/>
          </a:p>
        </p:txBody>
      </p:sp>
      <p:sp>
        <p:nvSpPr>
          <p:cNvPr id="13" name="Text 11"/>
          <p:cNvSpPr/>
          <p:nvPr/>
        </p:nvSpPr>
        <p:spPr>
          <a:xfrm>
            <a:off x="2178844" y="3501330"/>
            <a:ext cx="3043238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records of the earliest household signals: a mother who stopped sleeping, a child withdrawn from school, a father expressing hopelessness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8625" y="4241602"/>
            <a:ext cx="4972050" cy="572857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the time a signal reaches the health system it has usually escalated into an acute incident a facility must react to. The facilities exist. The CHVs exist. The policy framework exists.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missing is the connective tissue.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5632847" y="1520056"/>
            <a:ext cx="3078956" cy="3248397"/>
          </a:xfrm>
          <a:prstGeom prst="roundRect">
            <a:avLst>
              <a:gd name="adj" fmla="val 6187"/>
            </a:avLst>
          </a:prstGeom>
          <a:noFill/>
          <a:ln w="7144">
            <a:solidFill>
              <a:srgbClr val="DCE9E7"/>
            </a:solidFill>
            <a:prstDash val="solid"/>
          </a:ln>
          <a:effectLst>
            <a:outerShdw sx="100000" sy="100000" kx="0" ky="0" algn="bl" rotWithShape="0" blurRad="419100" dist="190500" dir="5400000">
              <a:srgbClr val="0E3A3D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0" descr="/tmp/h2p-fit-1790367809650-liv6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6419" y="1523628"/>
            <a:ext cx="3071813" cy="3241253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419" y="1523628"/>
            <a:ext cx="3071813" cy="324125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50719" y="4063901"/>
            <a:ext cx="2843213" cy="586680"/>
          </a:xfrm>
          <a:prstGeom prst="roundRect">
            <a:avLst>
              <a:gd name="adj" fmla="val 19483"/>
            </a:avLst>
          </a:prstGeom>
          <a:solidFill>
            <a:srgbClr val="FFFFFF">
              <a:alpha val="9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857875" y="41567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20" name="Text 16"/>
          <p:cNvSpPr/>
          <p:nvPr/>
        </p:nvSpPr>
        <p:spPr>
          <a:xfrm>
            <a:off x="6057900" y="4149626"/>
            <a:ext cx="2428875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Rural &amp; informal-settlement households: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Kibra, Mathare, Mukuru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where stigma blocks self-referral and the CHV is the only observer.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313" y="-1357312"/>
            <a:ext cx="3286125" cy="3286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2313" y="-1357312"/>
            <a:ext cx="3286125" cy="3286125"/>
          </a:xfrm>
          <a:prstGeom prst="ellipse">
            <a:avLst/>
          </a:prstGeom>
          <a:solidFill>
            <a:srgbClr val="0D948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71875" y="464344"/>
            <a:ext cx="214313" cy="10716"/>
          </a:xfrm>
          <a:prstGeom prst="rect">
            <a:avLst/>
          </a:prstGeom>
          <a:solidFill>
            <a:srgbClr val="DC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71913" y="400050"/>
            <a:ext cx="19293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ARE BUILDING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357813" y="464344"/>
            <a:ext cx="214313" cy="10716"/>
          </a:xfrm>
          <a:prstGeom prst="rect">
            <a:avLst/>
          </a:prstGeom>
          <a:solidFill>
            <a:srgbClr val="DC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2938" y="353616"/>
            <a:ext cx="1071563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28688" y="1232408"/>
            <a:ext cx="7286625" cy="152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73"/>
              </a:lnSpc>
              <a:buNone/>
            </a:pPr>
            <a:r>
              <a:rPr lang="en-US" sz="1913" spc="-19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“We are not building an AI therapist. We are building an intelligence and safety layer around the frontline healthcare workforce — so the earliest signals in a community become </a:t>
            </a:r>
            <a:pPr algn="ctr" indent="0" marL="0">
              <a:lnSpc>
                <a:spcPts val="2773"/>
              </a:lnSpc>
              <a:buNone/>
            </a:pPr>
            <a:r>
              <a:rPr lang="en-US" sz="1913" spc="-19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visible, actionable and trackable</a:t>
            </a:r>
            <a:pPr algn="ctr" indent="0" marL="0">
              <a:lnSpc>
                <a:spcPts val="2773"/>
              </a:lnSpc>
              <a:buNone/>
            </a:pPr>
            <a:r>
              <a:rPr lang="en-US" sz="1913" spc="-19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.”</a:t>
            </a:r>
            <a:endParaRPr lang="en-US" sz="1913" dirty="0"/>
          </a:p>
        </p:txBody>
      </p:sp>
      <p:sp>
        <p:nvSpPr>
          <p:cNvPr id="9" name="Text 6"/>
          <p:cNvSpPr/>
          <p:nvPr/>
        </p:nvSpPr>
        <p:spPr>
          <a:xfrm>
            <a:off x="3903691" y="2812517"/>
            <a:ext cx="133661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Msaada product thesis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460772" y="3669990"/>
            <a:ext cx="1943100" cy="1098463"/>
          </a:xfrm>
          <a:prstGeom prst="roundRect">
            <a:avLst>
              <a:gd name="adj" fmla="val 13874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7219" y="3802149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3295" y="383822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607219" y="4187912"/>
            <a:ext cx="1650206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CHVs speak naturally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Kiswahili, Sheng or English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53891" y="3669990"/>
            <a:ext cx="1943100" cy="1098463"/>
          </a:xfrm>
          <a:prstGeom prst="roundRect">
            <a:avLst>
              <a:gd name="adj" fmla="val 13874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700338" y="3802149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36413" y="383822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7" name="Text 14"/>
          <p:cNvSpPr/>
          <p:nvPr/>
        </p:nvSpPr>
        <p:spPr>
          <a:xfrm>
            <a:off x="2700338" y="4187912"/>
            <a:ext cx="1650206" cy="448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structures the observation into WHO-aligned triage flags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never the CHV’s job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47009" y="3669990"/>
            <a:ext cx="1943100" cy="1098463"/>
          </a:xfrm>
          <a:prstGeom prst="roundRect">
            <a:avLst>
              <a:gd name="adj" fmla="val 13874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93456" y="3802149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29532" y="383822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547" dirty="0"/>
          </a:p>
        </p:txBody>
      </p:sp>
      <p:sp>
        <p:nvSpPr>
          <p:cNvPr id="21" name="Text 18"/>
          <p:cNvSpPr/>
          <p:nvPr/>
        </p:nvSpPr>
        <p:spPr>
          <a:xfrm>
            <a:off x="4793456" y="4187912"/>
            <a:ext cx="1650206" cy="448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safety policy decides what happens next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model never decides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40128" y="3669990"/>
            <a:ext cx="1943100" cy="1098463"/>
          </a:xfrm>
          <a:prstGeom prst="roundRect">
            <a:avLst>
              <a:gd name="adj" fmla="val 13874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86575" y="3802149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922651" y="383822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25" name="Text 22"/>
          <p:cNvSpPr/>
          <p:nvPr/>
        </p:nvSpPr>
        <p:spPr>
          <a:xfrm>
            <a:off x="6886575" y="4187912"/>
            <a:ext cx="1650206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de-identified trends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give counties visibility before crisis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55414"/>
            <a:ext cx="171450" cy="28575"/>
          </a:xfrm>
          <a:prstGeom prst="roundRect">
            <a:avLst>
              <a:gd name="adj" fmla="val 33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00050"/>
            <a:ext cx="8029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653653"/>
            <a:ext cx="8636000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b="1" spc="-30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a spoken sentence to a tracked outcome in one visit.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32197" y="1867086"/>
            <a:ext cx="1478756" cy="1514140"/>
          </a:xfrm>
          <a:prstGeom prst="roundRect">
            <a:avLst>
              <a:gd name="adj" fmla="val 10306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0069" y="1999245"/>
            <a:ext cx="108585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1650206" y="20403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550069" y="2295711"/>
            <a:ext cx="124301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Speak or type</a:t>
            </a:r>
            <a:endParaRPr lang="en-US" sz="928" dirty="0"/>
          </a:p>
        </p:txBody>
      </p:sp>
      <p:sp>
        <p:nvSpPr>
          <p:cNvPr id="9" name="Text 7"/>
          <p:cNvSpPr/>
          <p:nvPr/>
        </p:nvSpPr>
        <p:spPr>
          <a:xfrm>
            <a:off x="550069" y="2529669"/>
            <a:ext cx="1317593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CHV dictates the visit naturally (English / Kiswahili / Sheng)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43100" y="25455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2132409" y="1867086"/>
            <a:ext cx="1478756" cy="1514140"/>
          </a:xfrm>
          <a:prstGeom prst="roundRect">
            <a:avLst>
              <a:gd name="adj" fmla="val 10306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50281" y="1999245"/>
            <a:ext cx="108585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81" dirty="0"/>
          </a:p>
        </p:txBody>
      </p:sp>
      <p:sp>
        <p:nvSpPr>
          <p:cNvPr id="13" name="Text 11"/>
          <p:cNvSpPr/>
          <p:nvPr/>
        </p:nvSpPr>
        <p:spPr>
          <a:xfrm>
            <a:off x="3350419" y="20403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2250281" y="2295711"/>
            <a:ext cx="1243012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Scrub</a:t>
            </a:r>
            <a:endParaRPr lang="en-US" sz="928" dirty="0"/>
          </a:p>
        </p:txBody>
      </p:sp>
      <p:sp>
        <p:nvSpPr>
          <p:cNvPr id="15" name="Text 13"/>
          <p:cNvSpPr/>
          <p:nvPr/>
        </p:nvSpPr>
        <p:spPr>
          <a:xfrm>
            <a:off x="2250281" y="2529669"/>
            <a:ext cx="1317593" cy="71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PII scrubber strips names, phones, landmarks before anything is stored; the raw observation is </a:t>
            </a:r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persisted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43313" y="25455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3832622" y="1867086"/>
            <a:ext cx="1478756" cy="1514140"/>
          </a:xfrm>
          <a:prstGeom prst="roundRect">
            <a:avLst>
              <a:gd name="adj" fmla="val 10306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50494" y="1999245"/>
            <a:ext cx="108585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81" dirty="0"/>
          </a:p>
        </p:txBody>
      </p:sp>
      <p:sp>
        <p:nvSpPr>
          <p:cNvPr id="19" name="Text 17"/>
          <p:cNvSpPr/>
          <p:nvPr/>
        </p:nvSpPr>
        <p:spPr>
          <a:xfrm>
            <a:off x="5050631" y="20403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3950494" y="2295711"/>
            <a:ext cx="1243012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</a:t>
            </a:r>
            <a:endParaRPr lang="en-US" sz="928" dirty="0"/>
          </a:p>
        </p:txBody>
      </p:sp>
      <p:sp>
        <p:nvSpPr>
          <p:cNvPr id="21" name="Text 19"/>
          <p:cNvSpPr/>
          <p:nvPr/>
        </p:nvSpPr>
        <p:spPr>
          <a:xfrm>
            <a:off x="3950494" y="2529669"/>
            <a:ext cx="1317593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 (ModelScope) extracts classification, observed indicators, aggregate tag, confidence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3525" y="25455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5532834" y="1867086"/>
            <a:ext cx="1478756" cy="1514140"/>
          </a:xfrm>
          <a:prstGeom prst="roundRect">
            <a:avLst>
              <a:gd name="adj" fmla="val 10306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50706" y="1999245"/>
            <a:ext cx="108585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81" dirty="0"/>
          </a:p>
        </p:txBody>
      </p:sp>
      <p:sp>
        <p:nvSpPr>
          <p:cNvPr id="25" name="Text 23"/>
          <p:cNvSpPr/>
          <p:nvPr/>
        </p:nvSpPr>
        <p:spPr>
          <a:xfrm>
            <a:off x="6750844" y="20403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5650706" y="2295711"/>
            <a:ext cx="1243012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Decide</a:t>
            </a:r>
            <a:endParaRPr lang="en-US" sz="928" dirty="0"/>
          </a:p>
        </p:txBody>
      </p:sp>
      <p:sp>
        <p:nvSpPr>
          <p:cNvPr id="27" name="Text 25"/>
          <p:cNvSpPr/>
          <p:nvPr/>
        </p:nvSpPr>
        <p:spPr>
          <a:xfrm>
            <a:off x="5650706" y="2529669"/>
            <a:ext cx="1317593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versioned deterministic policy engine evaluates: routine / follow-up / referral / </a:t>
            </a:r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crisis_override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3738" y="25455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7233047" y="1867086"/>
            <a:ext cx="1478756" cy="1514140"/>
          </a:xfrm>
          <a:prstGeom prst="roundRect">
            <a:avLst>
              <a:gd name="adj" fmla="val 10306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50919" y="1999245"/>
            <a:ext cx="108585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181" dirty="0"/>
          </a:p>
        </p:txBody>
      </p:sp>
      <p:sp>
        <p:nvSpPr>
          <p:cNvPr id="31" name="Text 29"/>
          <p:cNvSpPr/>
          <p:nvPr/>
        </p:nvSpPr>
        <p:spPr>
          <a:xfrm>
            <a:off x="8451056" y="20403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7350919" y="2295711"/>
            <a:ext cx="124301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 &amp; track</a:t>
            </a:r>
            <a:endParaRPr lang="en-US" sz="928" dirty="0"/>
          </a:p>
        </p:txBody>
      </p:sp>
      <p:sp>
        <p:nvSpPr>
          <p:cNvPr id="33" name="Text 31"/>
          <p:cNvSpPr/>
          <p:nvPr/>
        </p:nvSpPr>
        <p:spPr>
          <a:xfrm>
            <a:off x="7350919" y="2529669"/>
            <a:ext cx="1317593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referral lifecycle + follow-ups + de-identified county dashboard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2197" y="4289822"/>
            <a:ext cx="8279606" cy="492919"/>
          </a:xfrm>
          <a:prstGeom prst="roundRect">
            <a:avLst>
              <a:gd name="adj" fmla="val 30918"/>
            </a:avLst>
          </a:prstGeom>
          <a:solidFill>
            <a:srgbClr val="E6F4F2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7219" y="4400550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9366" y="44326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978694" y="4432268"/>
            <a:ext cx="493700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78694" y="4443413"/>
            <a:ext cx="4937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572406" y="4466630"/>
            <a:ext cx="2057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notebook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pocket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acute incident at facility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3577456" y="4450556"/>
            <a:ext cx="914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B84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15531" y="4440269"/>
            <a:ext cx="421035" cy="192024"/>
          </a:xfrm>
          <a:prstGeom prst="roundRect">
            <a:avLst>
              <a:gd name="adj" fmla="val 29762"/>
            </a:avLst>
          </a:prstGeom>
          <a:solidFill>
            <a:srgbClr val="0F6E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715531" y="4450556"/>
            <a:ext cx="4210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36579" y="4466630"/>
            <a:ext cx="43002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observation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structured signal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early community-level intervention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875" y="-1143000"/>
            <a:ext cx="3286125" cy="3286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75" y="-1143000"/>
            <a:ext cx="3286125" cy="3286125"/>
          </a:xfrm>
          <a:prstGeom prst="roundRect">
            <a:avLst>
              <a:gd name="adj" fmla="val 2898261"/>
            </a:avLst>
          </a:prstGeom>
          <a:solidFill>
            <a:srgbClr val="E11D4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BY DESIGN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610791"/>
            <a:ext cx="8001000" cy="71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extracts signals. </a:t>
            </a:r>
            <a:pPr algn="l" indent="0" marL="0">
              <a:lnSpc>
                <a:spcPts val="2610"/>
              </a:lnSpc>
              <a:buNone/>
            </a:pPr>
            <a:r>
              <a:rPr lang="en-US" sz="2250" b="1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policy controls the escalation.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60772" y="1448619"/>
            <a:ext cx="4279106" cy="3291260"/>
          </a:xfrm>
          <a:prstGeom prst="roundRect">
            <a:avLst>
              <a:gd name="adj" fmla="val 5788"/>
            </a:avLst>
          </a:prstGeom>
          <a:solidFill>
            <a:srgbClr val="FFF1F3"/>
          </a:solidFill>
          <a:ln w="7144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78656" y="167186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AUTOMATIC · NON-DISMISSABLE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364831" y="165221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9" name="Text 6"/>
          <p:cNvSpPr/>
          <p:nvPr/>
        </p:nvSpPr>
        <p:spPr>
          <a:xfrm>
            <a:off x="678656" y="1852240"/>
            <a:ext cx="3843338" cy="358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6"/>
              </a:lnSpc>
              <a:buNone/>
            </a:pPr>
            <a:r>
              <a:rPr lang="en-US" sz="1744" b="1" spc="-17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crisis_override</a:t>
            </a:r>
            <a:endParaRPr lang="en-US" sz="1744" dirty="0"/>
          </a:p>
        </p:txBody>
      </p:sp>
      <p:sp>
        <p:nvSpPr>
          <p:cNvPr id="10" name="Text 7"/>
          <p:cNvSpPr/>
          <p:nvPr/>
        </p:nvSpPr>
        <p:spPr>
          <a:xfrm>
            <a:off x="678656" y="2255862"/>
            <a:ext cx="3843338" cy="57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the observation contains suicidality or crisis indicators, a non-dismissable crisis panel fires at the point of observation — the AI's classification is bypassed </a:t>
            </a:r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rule, not by model confidence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72" dirty="0"/>
          </a:p>
        </p:txBody>
      </p:sp>
      <p:sp>
        <p:nvSpPr>
          <p:cNvPr id="11" name="Text 8"/>
          <p:cNvSpPr/>
          <p:nvPr/>
        </p:nvSpPr>
        <p:spPr>
          <a:xfrm>
            <a:off x="682228" y="3416498"/>
            <a:ext cx="3836194" cy="319683"/>
          </a:xfrm>
          <a:prstGeom prst="roundRect">
            <a:avLst>
              <a:gd name="adj" fmla="val 35754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0100" y="35049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406" dirty="0"/>
          </a:p>
        </p:txBody>
      </p:sp>
      <p:sp>
        <p:nvSpPr>
          <p:cNvPr id="13" name="Text 10"/>
          <p:cNvSpPr/>
          <p:nvPr/>
        </p:nvSpPr>
        <p:spPr>
          <a:xfrm>
            <a:off x="1028700" y="3498652"/>
            <a:ext cx="33718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Kenya Red Cross </a:t>
            </a:r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E3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1199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682228" y="3814763"/>
            <a:ext cx="3836194" cy="319683"/>
          </a:xfrm>
          <a:prstGeom prst="roundRect">
            <a:avLst>
              <a:gd name="adj" fmla="val 35754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0100" y="39031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1028700" y="3896916"/>
            <a:ext cx="33789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Befrienders Kenya </a:t>
            </a:r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E3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+254 722 178 177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682228" y="4213027"/>
            <a:ext cx="3836194" cy="319683"/>
          </a:xfrm>
          <a:prstGeom prst="roundRect">
            <a:avLst>
              <a:gd name="adj" fmla="val 35754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00100" y="430143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28700" y="4295180"/>
            <a:ext cx="33718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Instruction: do not leave the household unaccompanied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4932759" y="1448619"/>
            <a:ext cx="3750469" cy="1016087"/>
          </a:xfrm>
          <a:prstGeom prst="roundRect">
            <a:avLst>
              <a:gd name="adj" fmla="val 14999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93494" y="1595065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126355" y="162792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23" name="Text 20"/>
          <p:cNvSpPr/>
          <p:nvPr/>
        </p:nvSpPr>
        <p:spPr>
          <a:xfrm>
            <a:off x="5522119" y="1595065"/>
            <a:ext cx="3000375" cy="323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interprets, policy controls safety, humans control care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22119" y="1946449"/>
            <a:ext cx="3000375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architecture consensus from global AI-in-health failures — implemented literally.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32759" y="2586149"/>
            <a:ext cx="3750469" cy="1016198"/>
          </a:xfrm>
          <a:prstGeom prst="roundRect">
            <a:avLst>
              <a:gd name="adj" fmla="val 1499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93494" y="273259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126355" y="276545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8" name="Text 25"/>
          <p:cNvSpPr/>
          <p:nvPr/>
        </p:nvSpPr>
        <p:spPr>
          <a:xfrm>
            <a:off x="5522119" y="2732596"/>
            <a:ext cx="300037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PII never persisted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522119" y="2929719"/>
            <a:ext cx="3000375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raw observation is discarded by construction — dashboards never read indicator text.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32759" y="3723791"/>
            <a:ext cx="3750469" cy="1016087"/>
          </a:xfrm>
          <a:prstGeom prst="roundRect">
            <a:avLst>
              <a:gd name="adj" fmla="val 14999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93494" y="387023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126355" y="390309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3" name="Text 30"/>
          <p:cNvSpPr/>
          <p:nvPr/>
        </p:nvSpPr>
        <p:spPr>
          <a:xfrm>
            <a:off x="7637338" y="3863094"/>
            <a:ext cx="478408" cy="150019"/>
          </a:xfrm>
          <a:prstGeom prst="roundRect">
            <a:avLst>
              <a:gd name="adj" fmla="val 6342847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522119" y="3870238"/>
            <a:ext cx="2801118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engine is versioned &amp; auditable </a:t>
            </a:r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0F6E64"/>
                </a:solidFill>
                <a:highlight>
                  <a:srgbClr val="E6F4F2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v1.0.0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522119" y="4067361"/>
            <a:ext cx="2593628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decision records which policy version decided.</a:t>
            </a:r>
            <a:endParaRPr lang="en-US" sz="75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CONTINUITY OF CARE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0791"/>
            <a:ext cx="8636000" cy="35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“Referral created” is not </a:t>
            </a:r>
            <a:pPr algn="l" indent="0" marL="0">
              <a:lnSpc>
                <a:spcPts val="2610"/>
              </a:lnSpc>
              <a:buNone/>
            </a:pPr>
            <a:r>
              <a:rPr lang="en-US" sz="2250" b="1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“help received”</a:t>
            </a:r>
            <a:pPr algn="l" indent="0" marL="0">
              <a:lnSpc>
                <a:spcPts val="2610"/>
              </a:lnSpc>
              <a:buNone/>
            </a:pPr>
            <a:r>
              <a:rPr lang="en-US" sz="225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1117216"/>
            <a:ext cx="3064669" cy="3065450"/>
          </a:xfrm>
          <a:prstGeom prst="roundRect">
            <a:avLst>
              <a:gd name="adj" fmla="val 4973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7941" y="1310097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F7FAF9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1159" y="1343315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6B84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07281" y="1376176"/>
            <a:ext cx="221456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tools stop here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667941" y="2148929"/>
            <a:ext cx="2650331" cy="333970"/>
          </a:xfrm>
          <a:prstGeom prst="roundRect">
            <a:avLst>
              <a:gd name="adj" fmla="val 28521"/>
            </a:avLst>
          </a:prstGeom>
          <a:solidFill>
            <a:srgbClr val="F7FAF9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5813" y="224804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6B84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1336" dirty="0"/>
          </a:p>
        </p:txBody>
      </p:sp>
      <p:sp>
        <p:nvSpPr>
          <p:cNvPr id="10" name="Text 8"/>
          <p:cNvSpPr/>
          <p:nvPr/>
        </p:nvSpPr>
        <p:spPr>
          <a:xfrm>
            <a:off x="1007269" y="2238226"/>
            <a:ext cx="21931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Referral created</a:t>
            </a:r>
            <a:endParaRPr lang="en-US" sz="816" dirty="0"/>
          </a:p>
        </p:txBody>
      </p:sp>
      <p:sp>
        <p:nvSpPr>
          <p:cNvPr id="11" name="Text 9"/>
          <p:cNvSpPr/>
          <p:nvPr/>
        </p:nvSpPr>
        <p:spPr>
          <a:xfrm>
            <a:off x="821531" y="25293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B84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67941" y="2704356"/>
            <a:ext cx="2650331" cy="333970"/>
          </a:xfrm>
          <a:prstGeom prst="roundRect">
            <a:avLst>
              <a:gd name="adj" fmla="val 28521"/>
            </a:avLst>
          </a:prstGeom>
          <a:solidFill>
            <a:srgbClr val="F7FAF9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5813" y="280347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6B84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336" dirty="0"/>
          </a:p>
        </p:txBody>
      </p:sp>
      <p:sp>
        <p:nvSpPr>
          <p:cNvPr id="14" name="Text 12"/>
          <p:cNvSpPr/>
          <p:nvPr/>
        </p:nvSpPr>
        <p:spPr>
          <a:xfrm>
            <a:off x="1007269" y="2793653"/>
            <a:ext cx="21931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 closed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821531" y="30847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B84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667941" y="3259782"/>
            <a:ext cx="2650331" cy="333970"/>
          </a:xfrm>
          <a:prstGeom prst="roundRect">
            <a:avLst>
              <a:gd name="adj" fmla="val 28521"/>
            </a:avLst>
          </a:prstGeom>
          <a:solidFill>
            <a:srgbClr val="F7FAF9"/>
          </a:solidFill>
          <a:ln w="7144">
            <a:solidFill>
              <a:srgbClr val="DCE9E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5813" y="335890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6B84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336" dirty="0"/>
          </a:p>
        </p:txBody>
      </p:sp>
      <p:sp>
        <p:nvSpPr>
          <p:cNvPr id="18" name="Text 16"/>
          <p:cNvSpPr/>
          <p:nvPr/>
        </p:nvSpPr>
        <p:spPr>
          <a:xfrm>
            <a:off x="1007269" y="3349079"/>
            <a:ext cx="22002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County never learns the outcome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3718322" y="1117216"/>
            <a:ext cx="4964906" cy="3065450"/>
          </a:xfrm>
          <a:prstGeom prst="roundRect">
            <a:avLst>
              <a:gd name="adj" fmla="val 4972"/>
            </a:avLst>
          </a:prstGeom>
          <a:solidFill>
            <a:srgbClr val="E6F4F2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39778" y="1324384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72997" y="135760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2" name="Text 20"/>
          <p:cNvSpPr/>
          <p:nvPr/>
        </p:nvSpPr>
        <p:spPr>
          <a:xfrm>
            <a:off x="4379119" y="1390464"/>
            <a:ext cx="408622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Msaada tracks the lifecycle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3936206" y="2346387"/>
            <a:ext cx="4529138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REFERRAL LIFECYCLE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6206" y="2522895"/>
            <a:ext cx="609340" cy="311353"/>
          </a:xfrm>
          <a:prstGeom prst="roundRect">
            <a:avLst>
              <a:gd name="adj" fmla="val 3056169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36206" y="2535696"/>
            <a:ext cx="60934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95552" y="261785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95" dirty="0"/>
          </a:p>
        </p:txBody>
      </p:sp>
      <p:sp>
        <p:nvSpPr>
          <p:cNvPr id="27" name="Text 25"/>
          <p:cNvSpPr/>
          <p:nvPr/>
        </p:nvSpPr>
        <p:spPr>
          <a:xfrm>
            <a:off x="4767002" y="2522895"/>
            <a:ext cx="433983" cy="311353"/>
          </a:xfrm>
          <a:prstGeom prst="roundRect">
            <a:avLst>
              <a:gd name="adj" fmla="val 3056169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7002" y="2535696"/>
            <a:ext cx="4339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50991" y="261785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95" dirty="0"/>
          </a:p>
        </p:txBody>
      </p:sp>
      <p:sp>
        <p:nvSpPr>
          <p:cNvPr id="30" name="Text 28"/>
          <p:cNvSpPr/>
          <p:nvPr/>
        </p:nvSpPr>
        <p:spPr>
          <a:xfrm>
            <a:off x="5422441" y="2522895"/>
            <a:ext cx="901675" cy="311353"/>
          </a:xfrm>
          <a:prstGeom prst="roundRect">
            <a:avLst>
              <a:gd name="adj" fmla="val 3056169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22441" y="2535696"/>
            <a:ext cx="9016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ACKNOWLEDGED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74123" y="261785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95" dirty="0"/>
          </a:p>
        </p:txBody>
      </p:sp>
      <p:sp>
        <p:nvSpPr>
          <p:cNvPr id="33" name="Text 31"/>
          <p:cNvSpPr/>
          <p:nvPr/>
        </p:nvSpPr>
        <p:spPr>
          <a:xfrm>
            <a:off x="6545573" y="2522895"/>
            <a:ext cx="843186" cy="311353"/>
          </a:xfrm>
          <a:prstGeom prst="roundRect">
            <a:avLst>
              <a:gd name="adj" fmla="val 3056169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45573" y="2535696"/>
            <a:ext cx="8431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IN_PROGRESS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38765" y="261785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95" dirty="0"/>
          </a:p>
        </p:txBody>
      </p:sp>
      <p:sp>
        <p:nvSpPr>
          <p:cNvPr id="36" name="Text 34"/>
          <p:cNvSpPr/>
          <p:nvPr/>
        </p:nvSpPr>
        <p:spPr>
          <a:xfrm>
            <a:off x="7610215" y="2522895"/>
            <a:ext cx="726318" cy="311353"/>
          </a:xfrm>
          <a:prstGeom prst="roundRect">
            <a:avLst>
              <a:gd name="adj" fmla="val 3056169"/>
            </a:avLst>
          </a:prstGeom>
          <a:solidFill>
            <a:srgbClr val="0F6E64"/>
          </a:solidFill>
          <a:ln w="7144">
            <a:solidFill>
              <a:srgbClr val="0F6E6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10215" y="2535696"/>
            <a:ext cx="72631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6206" y="3504009"/>
            <a:ext cx="4529138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FOLLOW-UPS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36206" y="3680517"/>
            <a:ext cx="609340" cy="311353"/>
          </a:xfrm>
          <a:prstGeom prst="roundRect">
            <a:avLst>
              <a:gd name="adj" fmla="val 3056169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936206" y="3693319"/>
            <a:ext cx="60934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95552" y="3775472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95" dirty="0"/>
          </a:p>
        </p:txBody>
      </p:sp>
      <p:sp>
        <p:nvSpPr>
          <p:cNvPr id="42" name="Text 40"/>
          <p:cNvSpPr/>
          <p:nvPr/>
        </p:nvSpPr>
        <p:spPr>
          <a:xfrm>
            <a:off x="4767002" y="3680517"/>
            <a:ext cx="433983" cy="311353"/>
          </a:xfrm>
          <a:prstGeom prst="roundRect">
            <a:avLst>
              <a:gd name="adj" fmla="val 3056169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67002" y="3693319"/>
            <a:ext cx="4339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50991" y="3766542"/>
            <a:ext cx="109500" cy="164592"/>
          </a:xfrm>
          <a:prstGeom prst="rect">
            <a:avLst/>
          </a:prstGeom>
          <a:noFill/>
          <a:ln/>
        </p:spPr>
        <p:txBody>
          <a:bodyPr wrap="none" lIns="14288" tIns="0" rIns="14288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85495" y="3680517"/>
            <a:ext cx="550850" cy="311353"/>
          </a:xfrm>
          <a:prstGeom prst="roundRect">
            <a:avLst>
              <a:gd name="adj" fmla="val 3056169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385495" y="3693319"/>
            <a:ext cx="550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314825"/>
            <a:ext cx="8229600" cy="428625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57200" y="4318397"/>
            <a:ext cx="8229600" cy="0"/>
          </a:xfrm>
          <a:prstGeom prst="line">
            <a:avLst/>
          </a:prstGeom>
          <a:noFill/>
          <a:ln w="7144">
            <a:solidFill>
              <a:srgbClr val="DCE9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3228" y="4314825"/>
            <a:ext cx="0" cy="428625"/>
          </a:xfrm>
          <a:prstGeom prst="line">
            <a:avLst/>
          </a:prstGeom>
          <a:noFill/>
          <a:ln w="7144">
            <a:solidFill>
              <a:srgbClr val="DCE9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DCE9E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1488" y="4314825"/>
            <a:ext cx="0" cy="428625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225" y="44434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53" name="Text 51"/>
          <p:cNvSpPr/>
          <p:nvPr/>
        </p:nvSpPr>
        <p:spPr>
          <a:xfrm>
            <a:off x="942975" y="4448770"/>
            <a:ext cx="756523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Households are linked to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encounters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encounters to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 records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records to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referrals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full identity chain is queryable for audit and supervision.</a:t>
            </a:r>
            <a:endParaRPr lang="en-US" sz="8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THE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0791"/>
            <a:ext cx="8636000" cy="35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Aligned with the policy window — </a:t>
            </a:r>
            <a:pPr algn="l" indent="0" marL="0">
              <a:lnSpc>
                <a:spcPts val="2610"/>
              </a:lnSpc>
              <a:buNone/>
            </a:pPr>
            <a:r>
              <a:rPr lang="en-US" sz="2250" b="1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against it.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1117216"/>
            <a:ext cx="4029075" cy="1729122"/>
          </a:xfrm>
          <a:prstGeom prst="roundRect">
            <a:avLst>
              <a:gd name="adj" fmla="val 991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77803" y="1277950"/>
            <a:ext cx="25906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6B848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64369" y="130652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1159" y="1343315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828" dirty="0"/>
          </a:p>
        </p:txBody>
      </p:sp>
      <p:sp>
        <p:nvSpPr>
          <p:cNvPr id="8" name="Text 6"/>
          <p:cNvSpPr/>
          <p:nvPr/>
        </p:nvSpPr>
        <p:spPr>
          <a:xfrm>
            <a:off x="664369" y="1763725"/>
            <a:ext cx="3731609" cy="19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Kenya Mental Health Policy </a:t>
            </a:r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0E3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2015–2030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664369" y="2004380"/>
            <a:ext cx="3621881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Explicitly calls for community-level mental-health integration — the exact layer Msaada fills.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654153" y="1117216"/>
            <a:ext cx="4029075" cy="1729122"/>
          </a:xfrm>
          <a:prstGeom prst="roundRect">
            <a:avLst>
              <a:gd name="adj" fmla="val 991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71185" y="1277950"/>
            <a:ext cx="25906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6B848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57750" y="130652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94540" y="1343315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4" name="Text 12"/>
          <p:cNvSpPr/>
          <p:nvPr/>
        </p:nvSpPr>
        <p:spPr>
          <a:xfrm>
            <a:off x="4857750" y="1763725"/>
            <a:ext cx="373160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Health Strategy &amp; eCHIS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4857750" y="1997236"/>
            <a:ext cx="3621881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CHV platform is being digitised nationally; Msaada adds the intelligence + safety layer on top.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460772" y="3010644"/>
            <a:ext cx="4029075" cy="1729234"/>
          </a:xfrm>
          <a:prstGeom prst="roundRect">
            <a:avLst>
              <a:gd name="adj" fmla="val 991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77803" y="3171379"/>
            <a:ext cx="25906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6B848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64369" y="319995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1159" y="323674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828" dirty="0"/>
          </a:p>
        </p:txBody>
      </p:sp>
      <p:sp>
        <p:nvSpPr>
          <p:cNvPr id="20" name="Text 18"/>
          <p:cNvSpPr/>
          <p:nvPr/>
        </p:nvSpPr>
        <p:spPr>
          <a:xfrm>
            <a:off x="664369" y="3657154"/>
            <a:ext cx="373160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ODPC-aligned by construction</a:t>
            </a:r>
            <a:endParaRPr lang="en-US" sz="1069" dirty="0"/>
          </a:p>
        </p:txBody>
      </p:sp>
      <p:sp>
        <p:nvSpPr>
          <p:cNvPr id="21" name="Text 19"/>
          <p:cNvSpPr/>
          <p:nvPr/>
        </p:nvSpPr>
        <p:spPr>
          <a:xfrm>
            <a:off x="664369" y="3890665"/>
            <a:ext cx="3621881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De-identification at the data layer — sensitive personal data handled per the Data Protection Act.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4654153" y="3010644"/>
            <a:ext cx="4029075" cy="1729234"/>
          </a:xfrm>
          <a:prstGeom prst="roundRect">
            <a:avLst>
              <a:gd name="adj" fmla="val 991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71185" y="3171379"/>
            <a:ext cx="25906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6B848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857750" y="319995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94540" y="323674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828" dirty="0"/>
          </a:p>
        </p:txBody>
      </p:sp>
      <p:sp>
        <p:nvSpPr>
          <p:cNvPr id="26" name="Text 24"/>
          <p:cNvSpPr/>
          <p:nvPr/>
        </p:nvSpPr>
        <p:spPr>
          <a:xfrm>
            <a:off x="4857750" y="3657154"/>
            <a:ext cx="373160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Institution-led onboarding</a:t>
            </a:r>
            <a:endParaRPr lang="en-US" sz="1069" dirty="0"/>
          </a:p>
        </p:txBody>
      </p:sp>
      <p:sp>
        <p:nvSpPr>
          <p:cNvPr id="27" name="Text 25"/>
          <p:cNvSpPr/>
          <p:nvPr/>
        </p:nvSpPr>
        <p:spPr>
          <a:xfrm>
            <a:off x="4857750" y="3890665"/>
            <a:ext cx="3621881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County admin → community health officers → CHVs; no self-signup, every account traces to an institution.</a:t>
            </a:r>
            <a:endParaRPr lang="en-US" sz="8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57897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FIELD-FIRST ENGINEERING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0791"/>
            <a:ext cx="5186363" cy="666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Works in a ward with no network.</a:t>
            </a:r>
            <a:endParaRPr lang="en-US" sz="2025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Syncs when it returns.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60772" y="1697980"/>
            <a:ext cx="4707731" cy="624632"/>
          </a:xfrm>
          <a:prstGeom prst="roundRect">
            <a:avLst>
              <a:gd name="adj" fmla="val 24398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7219" y="183013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7219" y="1830139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007269" y="1830139"/>
            <a:ext cx="3329629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Draft locally</a:t>
            </a:r>
            <a:endParaRPr lang="en-US" sz="928" dirty="0"/>
          </a:p>
        </p:txBody>
      </p:sp>
      <p:sp>
        <p:nvSpPr>
          <p:cNvPr id="8" name="Text 6"/>
          <p:cNvSpPr/>
          <p:nvPr/>
        </p:nvSpPr>
        <p:spPr>
          <a:xfrm>
            <a:off x="1007269" y="2035522"/>
            <a:ext cx="2840980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Encounter drafts are queued on-device the moment a visit ends.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60772" y="2429768"/>
            <a:ext cx="4707731" cy="779562"/>
          </a:xfrm>
          <a:prstGeom prst="roundRect">
            <a:avLst>
              <a:gd name="adj" fmla="val 19549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219" y="256192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219" y="256192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07269" y="2561927"/>
            <a:ext cx="4014788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 automatically</a:t>
            </a:r>
            <a:endParaRPr lang="en-US" sz="928" dirty="0"/>
          </a:p>
        </p:txBody>
      </p:sp>
      <p:sp>
        <p:nvSpPr>
          <p:cNvPr id="13" name="Text 11"/>
          <p:cNvSpPr/>
          <p:nvPr/>
        </p:nvSpPr>
        <p:spPr>
          <a:xfrm>
            <a:off x="1007269" y="2767310"/>
            <a:ext cx="40147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Drafts flush to Supabase when connectivity returns — upsert by client UUID, duplicates impossible.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3316486"/>
            <a:ext cx="4707731" cy="624632"/>
          </a:xfrm>
          <a:prstGeom prst="roundRect">
            <a:avLst>
              <a:gd name="adj" fmla="val 24398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219" y="344864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7219" y="3448645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07269" y="3448645"/>
            <a:ext cx="343613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lose a signal</a:t>
            </a:r>
            <a:endParaRPr lang="en-US" sz="928" dirty="0"/>
          </a:p>
        </p:txBody>
      </p:sp>
      <p:sp>
        <p:nvSpPr>
          <p:cNvPr id="18" name="Text 16"/>
          <p:cNvSpPr/>
          <p:nvPr/>
        </p:nvSpPr>
        <p:spPr>
          <a:xfrm>
            <a:off x="1007269" y="3654028"/>
            <a:ext cx="3272507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crisis observed offline is still captured, timestamped and routed on sync.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457200" y="4411266"/>
            <a:ext cx="4714875" cy="35875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Connectivity is not a luxury in informal settlements and rural wards — the tool assumes it will disappear.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5386388" y="400050"/>
            <a:ext cx="3300413" cy="4343400"/>
          </a:xfrm>
          <a:prstGeom prst="roundRect">
            <a:avLst>
              <a:gd name="adj" fmla="val 5772"/>
            </a:avLst>
          </a:prstGeom>
          <a:solidFill>
            <a:srgbClr val="0E3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93694" y="614363"/>
            <a:ext cx="685800" cy="685800"/>
          </a:xfrm>
          <a:prstGeom prst="roundRect">
            <a:avLst>
              <a:gd name="adj" fmla="val 13887500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87991" y="708660"/>
            <a:ext cx="497205" cy="49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75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3375" dirty="0"/>
          </a:p>
        </p:txBody>
      </p:sp>
      <p:sp>
        <p:nvSpPr>
          <p:cNvPr id="23" name="Text 21"/>
          <p:cNvSpPr/>
          <p:nvPr/>
        </p:nvSpPr>
        <p:spPr>
          <a:xfrm>
            <a:off x="6109130" y="1414463"/>
            <a:ext cx="18548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WORKS WITHOUT NETWORK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08018" y="2325884"/>
            <a:ext cx="500955" cy="268491"/>
          </a:xfrm>
          <a:prstGeom prst="roundRect">
            <a:avLst>
              <a:gd name="adj" fmla="val 3544057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08018" y="2338685"/>
            <a:ext cx="50095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DRAFT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51836" y="239940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95" dirty="0"/>
          </a:p>
        </p:txBody>
      </p:sp>
      <p:sp>
        <p:nvSpPr>
          <p:cNvPr id="27" name="Text 25"/>
          <p:cNvSpPr/>
          <p:nvPr/>
        </p:nvSpPr>
        <p:spPr>
          <a:xfrm>
            <a:off x="6816142" y="2325884"/>
            <a:ext cx="500955" cy="268491"/>
          </a:xfrm>
          <a:prstGeom prst="roundRect">
            <a:avLst>
              <a:gd name="adj" fmla="val 3544057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16142" y="2338685"/>
            <a:ext cx="50095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59960" y="239940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95" dirty="0"/>
          </a:p>
        </p:txBody>
      </p:sp>
      <p:sp>
        <p:nvSpPr>
          <p:cNvPr id="30" name="Text 28"/>
          <p:cNvSpPr/>
          <p:nvPr/>
        </p:nvSpPr>
        <p:spPr>
          <a:xfrm>
            <a:off x="7524266" y="2325884"/>
            <a:ext cx="440792" cy="268491"/>
          </a:xfrm>
          <a:prstGeom prst="roundRect">
            <a:avLst>
              <a:gd name="adj" fmla="val 3544057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24266" y="2338685"/>
            <a:ext cx="44079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00700" y="3387923"/>
            <a:ext cx="2871788" cy="1141214"/>
          </a:xfrm>
          <a:prstGeom prst="roundRect">
            <a:avLst>
              <a:gd name="adj" fmla="val 11685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57863" y="3530798"/>
            <a:ext cx="25574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INPUT MODES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57863" y="37549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406" dirty="0"/>
          </a:p>
        </p:txBody>
      </p:sp>
      <p:sp>
        <p:nvSpPr>
          <p:cNvPr id="35" name="Text 33"/>
          <p:cNvSpPr/>
          <p:nvPr/>
        </p:nvSpPr>
        <p:spPr>
          <a:xfrm>
            <a:off x="5986463" y="3748683"/>
            <a:ext cx="2328863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Spoken dictation</a:t>
            </a:r>
            <a:endParaRPr lang="en-US" sz="816" dirty="0"/>
          </a:p>
        </p:txBody>
      </p:sp>
      <p:sp>
        <p:nvSpPr>
          <p:cNvPr id="36" name="Text 34"/>
          <p:cNvSpPr/>
          <p:nvPr/>
        </p:nvSpPr>
        <p:spPr>
          <a:xfrm>
            <a:off x="5757863" y="39960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5986463" y="3989784"/>
            <a:ext cx="2328863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Typed notes</a:t>
            </a:r>
            <a:endParaRPr lang="en-US" sz="816" dirty="0"/>
          </a:p>
        </p:txBody>
      </p:sp>
      <p:sp>
        <p:nvSpPr>
          <p:cNvPr id="38" name="Text 36"/>
          <p:cNvSpPr/>
          <p:nvPr/>
        </p:nvSpPr>
        <p:spPr>
          <a:xfrm>
            <a:off x="5757863" y="423713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39" name="Text 37"/>
          <p:cNvSpPr/>
          <p:nvPr/>
        </p:nvSpPr>
        <p:spPr>
          <a:xfrm>
            <a:off x="5986463" y="4230886"/>
            <a:ext cx="2328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 / Swa / Sheng mixed</a:t>
            </a:r>
            <a:endParaRPr lang="en-US" sz="81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4698"/>
            <a:ext cx="185738" cy="21431"/>
          </a:xfrm>
          <a:prstGeom prst="roundRect">
            <a:avLst>
              <a:gd name="adj" fmla="val 8889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385763"/>
            <a:ext cx="7972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BUILD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0791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working product, not a prototype.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60772" y="1114425"/>
            <a:ext cx="2640732" cy="1633240"/>
          </a:xfrm>
          <a:prstGeom prst="roundRect">
            <a:avLst>
              <a:gd name="adj" fmla="val 9331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5794" y="1289447"/>
            <a:ext cx="200493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2655019" y="128944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3A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5794" y="1718072"/>
            <a:ext cx="2290688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pages &amp; flows shipped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35794" y="1900238"/>
            <a:ext cx="22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report, dashboard, cases, referrals, households, admin, supervisor, audit…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51522" y="1114425"/>
            <a:ext cx="2640843" cy="1633240"/>
          </a:xfrm>
          <a:prstGeom prst="roundRect">
            <a:avLst>
              <a:gd name="adj" fmla="val 9331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6544" y="1289447"/>
            <a:ext cx="200505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30+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5445882" y="128944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3A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426544" y="1718072"/>
            <a:ext cx="229080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endpoints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3426544" y="1900238"/>
            <a:ext cx="2400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incl.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/api/triage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/api/health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offline-sync</a:t>
            </a:r>
            <a:endParaRPr lang="en-US" sz="703" dirty="0"/>
          </a:p>
        </p:txBody>
      </p:sp>
      <p:sp>
        <p:nvSpPr>
          <p:cNvPr id="15" name="Text 13"/>
          <p:cNvSpPr/>
          <p:nvPr/>
        </p:nvSpPr>
        <p:spPr>
          <a:xfrm>
            <a:off x="6042385" y="1114425"/>
            <a:ext cx="2640732" cy="1633240"/>
          </a:xfrm>
          <a:prstGeom prst="roundRect">
            <a:avLst>
              <a:gd name="adj" fmla="val 9331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17407" y="1289447"/>
            <a:ext cx="200493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13/13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8236632" y="128944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3A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217407" y="1718072"/>
            <a:ext cx="2400416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smoke checks passing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6217407" y="1900238"/>
            <a:ext cx="22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every release (live Qwen triage, auth, sync, crisis override)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72" y="2897684"/>
            <a:ext cx="2640732" cy="1499295"/>
          </a:xfrm>
          <a:prstGeom prst="roundRect">
            <a:avLst>
              <a:gd name="adj" fmla="val 1016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5794" y="3072705"/>
            <a:ext cx="200493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v1.0.0</a:t>
            </a:r>
            <a:endParaRPr lang="en-US" sz="2475" dirty="0"/>
          </a:p>
        </p:txBody>
      </p:sp>
      <p:sp>
        <p:nvSpPr>
          <p:cNvPr id="22" name="Text 20"/>
          <p:cNvSpPr/>
          <p:nvPr/>
        </p:nvSpPr>
        <p:spPr>
          <a:xfrm>
            <a:off x="2655019" y="3072705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3A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35794" y="3501330"/>
            <a:ext cx="2400416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policy engine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635794" y="3683496"/>
            <a:ext cx="2290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versioned &amp; auditable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51522" y="2897684"/>
            <a:ext cx="2640843" cy="1499295"/>
          </a:xfrm>
          <a:prstGeom prst="roundRect">
            <a:avLst>
              <a:gd name="adj" fmla="val 1016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26544" y="3072705"/>
            <a:ext cx="200505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475" dirty="0"/>
          </a:p>
        </p:txBody>
      </p:sp>
      <p:sp>
        <p:nvSpPr>
          <p:cNvPr id="27" name="Text 25"/>
          <p:cNvSpPr/>
          <p:nvPr/>
        </p:nvSpPr>
        <p:spPr>
          <a:xfrm>
            <a:off x="5445882" y="3072705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3A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426544" y="3501330"/>
            <a:ext cx="2400528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tsc-clean TypeScript, ESLint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3426544" y="3683496"/>
            <a:ext cx="2290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 on every push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42385" y="2897684"/>
            <a:ext cx="2640732" cy="1499295"/>
          </a:xfrm>
          <a:prstGeom prst="roundRect">
            <a:avLst>
              <a:gd name="adj" fmla="val 1016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7407" y="3072705"/>
            <a:ext cx="200493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2475" dirty="0"/>
          </a:p>
        </p:txBody>
      </p:sp>
      <p:sp>
        <p:nvSpPr>
          <p:cNvPr id="32" name="Text 30"/>
          <p:cNvSpPr/>
          <p:nvPr/>
        </p:nvSpPr>
        <p:spPr>
          <a:xfrm>
            <a:off x="8236632" y="3072705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3A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217407" y="3501330"/>
            <a:ext cx="2290688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secrets in the repo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6217407" y="3683496"/>
            <a:ext cx="2290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keys resolve lazily, config fails fast in production</a:t>
            </a:r>
            <a:endParaRPr lang="en-US" sz="703" dirty="0"/>
          </a:p>
        </p:txBody>
      </p:sp>
      <p:sp>
        <p:nvSpPr>
          <p:cNvPr id="35" name="Text 33"/>
          <p:cNvSpPr/>
          <p:nvPr/>
        </p:nvSpPr>
        <p:spPr>
          <a:xfrm>
            <a:off x="457200" y="4634508"/>
            <a:ext cx="4916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218" y="4629150"/>
            <a:ext cx="7144" cy="128588"/>
          </a:xfrm>
          <a:prstGeom prst="rect">
            <a:avLst/>
          </a:prstGeom>
          <a:solidFill>
            <a:srgbClr val="DC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43087" y="4559198"/>
            <a:ext cx="1220242" cy="268491"/>
          </a:xfrm>
          <a:prstGeom prst="roundRect">
            <a:avLst>
              <a:gd name="adj" fmla="val 354405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50243" y="4675584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43087" y="4572000"/>
            <a:ext cx="12202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 (Turbopack)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52625" y="4575572"/>
            <a:ext cx="2072022" cy="235744"/>
          </a:xfrm>
          <a:prstGeom prst="roundRect">
            <a:avLst>
              <a:gd name="adj" fmla="val 4036359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356210" y="4675584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249053" y="4572000"/>
            <a:ext cx="2122029" cy="310896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 via ModelScope (OpenAI-compatible)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13945" y="4559198"/>
            <a:ext cx="1117104" cy="268491"/>
          </a:xfrm>
          <a:prstGeom prst="roundRect">
            <a:avLst>
              <a:gd name="adj" fmla="val 354405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521101" y="4675584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413945" y="4572000"/>
            <a:ext cx="111710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 SSR auth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16773" y="4559198"/>
            <a:ext cx="593154" cy="268491"/>
          </a:xfrm>
          <a:prstGeom prst="roundRect">
            <a:avLst>
              <a:gd name="adj" fmla="val 354405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23930" y="4675584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616773" y="4572000"/>
            <a:ext cx="5931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95653" y="4559198"/>
            <a:ext cx="715268" cy="268491"/>
          </a:xfrm>
          <a:prstGeom prst="roundRect">
            <a:avLst>
              <a:gd name="adj" fmla="val 354405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402809" y="4675584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95653" y="4572000"/>
            <a:ext cx="71526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4698"/>
            <a:ext cx="185738" cy="21431"/>
          </a:xfrm>
          <a:prstGeom prst="roundRect">
            <a:avLst>
              <a:gd name="adj" fmla="val 8889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385763"/>
            <a:ext cx="7972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0791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clicks to the hardest workflow.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60772" y="1114425"/>
            <a:ext cx="5436394" cy="840284"/>
          </a:xfrm>
          <a:prstGeom prst="roundRect">
            <a:avLst>
              <a:gd name="adj" fmla="val 1813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24658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0F6E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246584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992981" y="1246584"/>
            <a:ext cx="3887244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 in as a CHV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992981" y="1434108"/>
            <a:ext cx="3702137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demo@msaada.health / msaada123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fresh deployments seed this automatically.</a:t>
            </a:r>
            <a:endParaRPr lang="en-US" sz="759" dirty="0"/>
          </a:p>
        </p:txBody>
      </p:sp>
      <p:sp>
        <p:nvSpPr>
          <p:cNvPr id="10" name="Text 8"/>
          <p:cNvSpPr/>
          <p:nvPr/>
        </p:nvSpPr>
        <p:spPr>
          <a:xfrm>
            <a:off x="460772" y="2061865"/>
            <a:ext cx="5436394" cy="840284"/>
          </a:xfrm>
          <a:prstGeom prst="roundRect">
            <a:avLst>
              <a:gd name="adj" fmla="val 1813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219402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0F6E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194024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992981" y="2194024"/>
            <a:ext cx="4429069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 a visit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992981" y="2381548"/>
            <a:ext cx="4218161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/report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type or dictate a mixed Sheng/English observation about a mother with suicidal ideation.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460772" y="3009305"/>
            <a:ext cx="5436394" cy="840284"/>
          </a:xfrm>
          <a:prstGeom prst="roundRect">
            <a:avLst>
              <a:gd name="adj" fmla="val 18137"/>
            </a:avLst>
          </a:prstGeom>
          <a:solidFill>
            <a:srgbClr val="FFF1F3"/>
          </a:solidFill>
          <a:ln w="7144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1506" y="314146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06" y="3141464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992981" y="3141464"/>
            <a:ext cx="4853178" cy="16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Watch </a:t>
            </a:r>
            <a:pPr algn="l" indent="0" marL="0">
              <a:lnSpc>
                <a:spcPts val="1195"/>
              </a:lnSpc>
              <a:buNone/>
            </a:pPr>
            <a:r>
              <a:rPr lang="en-US" sz="900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crisis_override</a:t>
            </a:r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fire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992981" y="3328988"/>
            <a:ext cx="4743450" cy="33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non-dismissable crisis panel with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E3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1199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Befrienders line + do-not-leave instruction, case created ready for assignment.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72" y="3956745"/>
            <a:ext cx="5436394" cy="840284"/>
          </a:xfrm>
          <a:prstGeom prst="roundRect">
            <a:avLst>
              <a:gd name="adj" fmla="val 18137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408890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0F6E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1506" y="4088904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992981" y="4088904"/>
            <a:ext cx="4743450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the system react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992981" y="4276427"/>
            <a:ext cx="474345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/dashboard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county trends,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/cases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assignment flow,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/admin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onboarding (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county.admin@msaada.health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/status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live health probes (database / Qwen / Supabase).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61472" y="1114425"/>
            <a:ext cx="2621756" cy="3682603"/>
          </a:xfrm>
          <a:prstGeom prst="roundRect">
            <a:avLst>
              <a:gd name="adj" fmla="val 5813"/>
            </a:avLst>
          </a:prstGeom>
          <a:solidFill>
            <a:srgbClr val="E6F4F2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765256" y="946547"/>
            <a:ext cx="1071563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254353" y="1307306"/>
            <a:ext cx="350044" cy="350044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89536" y="1342489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898" dirty="0"/>
          </a:p>
        </p:txBody>
      </p:sp>
      <p:sp>
        <p:nvSpPr>
          <p:cNvPr id="29" name="Text 27"/>
          <p:cNvSpPr/>
          <p:nvPr/>
        </p:nvSpPr>
        <p:spPr>
          <a:xfrm>
            <a:off x="6250781" y="1789509"/>
            <a:ext cx="224313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Deploys itself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6250781" y="2168128"/>
            <a:ext cx="2243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A FRESH DEPLOYMENT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50781" y="237172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32" name="Text 30"/>
          <p:cNvSpPr/>
          <p:nvPr/>
        </p:nvSpPr>
        <p:spPr>
          <a:xfrm>
            <a:off x="6457950" y="2371725"/>
            <a:ext cx="2035969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 self-provisions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50781" y="259318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34" name="Text 32"/>
          <p:cNvSpPr/>
          <p:nvPr/>
        </p:nvSpPr>
        <p:spPr>
          <a:xfrm>
            <a:off x="6457950" y="2593181"/>
            <a:ext cx="2035969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data seeds automatically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50781" y="281463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36" name="Text 34"/>
          <p:cNvSpPr/>
          <p:nvPr/>
        </p:nvSpPr>
        <p:spPr>
          <a:xfrm>
            <a:off x="6457950" y="2814638"/>
            <a:ext cx="2035969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manual setup for judges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50781" y="3971925"/>
            <a:ext cx="2243138" cy="7144"/>
          </a:xfrm>
          <a:prstGeom prst="rect">
            <a:avLst/>
          </a:prstGeom>
          <a:solidFill>
            <a:srgbClr val="DC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50781" y="4093369"/>
            <a:ext cx="2243138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CHV DEMO ACCOUNT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54353" y="4286250"/>
            <a:ext cx="2235994" cy="317897"/>
          </a:xfrm>
          <a:prstGeom prst="roundRect">
            <a:avLst>
              <a:gd name="adj" fmla="val 35955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57938" y="43809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6557963" y="4375547"/>
            <a:ext cx="18359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demo@msaada.health / msaada123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4698"/>
            <a:ext cx="185738" cy="21431"/>
          </a:xfrm>
          <a:prstGeom prst="roundRect">
            <a:avLst>
              <a:gd name="adj" fmla="val 8889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385763"/>
            <a:ext cx="7972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0791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Shipped today, designed for what’s next.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85775" y="1203722"/>
            <a:ext cx="8172450" cy="14288"/>
          </a:xfrm>
          <a:prstGeom prst="rect">
            <a:avLst/>
          </a:prstGeom>
          <a:solidFill>
            <a:srgbClr val="DC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160859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50800" dir="16200000">
              <a:srgbClr val="E6F4F2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7213" y="1135856"/>
            <a:ext cx="287201" cy="150019"/>
          </a:xfrm>
          <a:prstGeom prst="rect">
            <a:avLst/>
          </a:prstGeom>
          <a:solidFill>
            <a:srgbClr val="F7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7213" y="1143893"/>
            <a:ext cx="1850231" cy="164592"/>
          </a:xfrm>
          <a:prstGeom prst="rect">
            <a:avLst/>
          </a:prstGeom>
          <a:noFill/>
          <a:ln/>
        </p:spPr>
        <p:txBody>
          <a:bodyPr wrap="none" lIns="14288" tIns="0" rIns="71438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05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1414463"/>
            <a:ext cx="1943100" cy="2839641"/>
          </a:xfrm>
          <a:prstGeom prst="roundRect">
            <a:avLst>
              <a:gd name="adj" fmla="val 7843"/>
            </a:avLst>
          </a:prstGeom>
          <a:solidFill>
            <a:srgbClr val="E6F4F2"/>
          </a:solidFill>
          <a:ln w="7144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17295" y="1521297"/>
            <a:ext cx="590578" cy="206026"/>
          </a:xfrm>
          <a:prstGeom prst="roundRect">
            <a:avLst>
              <a:gd name="adj" fmla="val 4618580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91785" y="1532334"/>
            <a:ext cx="55587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83" kern="0" dirty="0">
                <a:solidFill>
                  <a:srgbClr val="0F6E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SHIPPED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1575197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0438" y="16041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621506" y="1960959"/>
            <a:ext cx="1621631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Working MVP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621506" y="2169914"/>
            <a:ext cx="1621631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demo: triage, crisis override, referrals, dashboards, offline sync.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95710" y="3721894"/>
            <a:ext cx="9326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0E3A3D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2564606" y="1175147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F7FAF9"/>
          </a:solidFill>
          <a:ln w="14288">
            <a:solidFill>
              <a:srgbClr val="6B848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43188" y="1135856"/>
            <a:ext cx="354397" cy="150019"/>
          </a:xfrm>
          <a:prstGeom prst="rect">
            <a:avLst/>
          </a:prstGeom>
          <a:solidFill>
            <a:srgbClr val="F7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43188" y="1143893"/>
            <a:ext cx="1857375" cy="164592"/>
          </a:xfrm>
          <a:prstGeom prst="rect">
            <a:avLst/>
          </a:prstGeom>
          <a:noFill/>
          <a:ln/>
        </p:spPr>
        <p:txBody>
          <a:bodyPr wrap="none" lIns="14288" tIns="0" rIns="71438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05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53891" y="1414463"/>
            <a:ext cx="1943100" cy="2839641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14625" y="1575197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43557" y="16041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2714625" y="1960959"/>
            <a:ext cx="1621631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 notes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2714625" y="2169914"/>
            <a:ext cx="1621631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ASR via DashScope escape hatch — chat stays on ModelScope, speech runs on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6E6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qwen3-asr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88829" y="3721894"/>
            <a:ext cx="9326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0E3A3D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4050" dirty="0"/>
          </a:p>
        </p:txBody>
      </p:sp>
      <p:sp>
        <p:nvSpPr>
          <p:cNvPr id="26" name="Text 24"/>
          <p:cNvSpPr/>
          <p:nvPr/>
        </p:nvSpPr>
        <p:spPr>
          <a:xfrm>
            <a:off x="4657725" y="1175147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F7FAF9"/>
          </a:solidFill>
          <a:ln w="14288">
            <a:solidFill>
              <a:srgbClr val="6B848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36306" y="1135856"/>
            <a:ext cx="354397" cy="150019"/>
          </a:xfrm>
          <a:prstGeom prst="rect">
            <a:avLst/>
          </a:prstGeom>
          <a:solidFill>
            <a:srgbClr val="F7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36306" y="1143893"/>
            <a:ext cx="1857375" cy="164592"/>
          </a:xfrm>
          <a:prstGeom prst="rect">
            <a:avLst/>
          </a:prstGeom>
          <a:noFill/>
          <a:ln/>
        </p:spPr>
        <p:txBody>
          <a:bodyPr wrap="none" lIns="14288" tIns="0" rIns="71438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05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47009" y="1414463"/>
            <a:ext cx="1943100" cy="2839641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7744" y="1575197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6676" y="16041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4807744" y="1960959"/>
            <a:ext cx="1621631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Reach</a:t>
            </a:r>
            <a:endParaRPr lang="en-US" sz="956" dirty="0"/>
          </a:p>
        </p:txBody>
      </p:sp>
      <p:sp>
        <p:nvSpPr>
          <p:cNvPr id="33" name="Text 31"/>
          <p:cNvSpPr/>
          <p:nvPr/>
        </p:nvSpPr>
        <p:spPr>
          <a:xfrm>
            <a:off x="4807744" y="2169914"/>
            <a:ext cx="1621631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SMS/USSD fallback for feature phones, PWA install, Kiswahili-first UI.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81948" y="3721894"/>
            <a:ext cx="9326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0E3A3D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4050" dirty="0"/>
          </a:p>
        </p:txBody>
      </p:sp>
      <p:sp>
        <p:nvSpPr>
          <p:cNvPr id="35" name="Text 33"/>
          <p:cNvSpPr/>
          <p:nvPr/>
        </p:nvSpPr>
        <p:spPr>
          <a:xfrm>
            <a:off x="6750844" y="1175147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F7FAF9"/>
          </a:solidFill>
          <a:ln w="14288">
            <a:solidFill>
              <a:srgbClr val="6B848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29425" y="1135856"/>
            <a:ext cx="421593" cy="150019"/>
          </a:xfrm>
          <a:prstGeom prst="rect">
            <a:avLst/>
          </a:prstGeom>
          <a:solidFill>
            <a:srgbClr val="F7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29425" y="1143893"/>
            <a:ext cx="1857375" cy="164592"/>
          </a:xfrm>
          <a:prstGeom prst="rect">
            <a:avLst/>
          </a:prstGeom>
          <a:noFill/>
          <a:ln/>
        </p:spPr>
        <p:txBody>
          <a:bodyPr wrap="none" lIns="14288" tIns="0" rIns="71438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05" kern="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40128" y="1414463"/>
            <a:ext cx="1943100" cy="2839641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144">
            <a:solidFill>
              <a:srgbClr val="DCE9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00863" y="1575197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E6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29795" y="16041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6900863" y="1960959"/>
            <a:ext cx="1621631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Haki integration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6900863" y="2169914"/>
            <a:ext cx="1621631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E5C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Companion governance/legal-rights product, deliberately deferred so Msaada ships focused.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5066" y="3721894"/>
            <a:ext cx="9326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0E3A3D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4050" dirty="0"/>
          </a:p>
        </p:txBody>
      </p:sp>
      <p:sp>
        <p:nvSpPr>
          <p:cNvPr id="44" name="Text 42"/>
          <p:cNvSpPr/>
          <p:nvPr/>
        </p:nvSpPr>
        <p:spPr>
          <a:xfrm>
            <a:off x="457200" y="4429125"/>
            <a:ext cx="8229600" cy="385763"/>
          </a:xfrm>
          <a:prstGeom prst="roundRect">
            <a:avLst>
              <a:gd name="adj" fmla="val 39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57200" y="4432697"/>
            <a:ext cx="8229600" cy="0"/>
          </a:xfrm>
          <a:prstGeom prst="line">
            <a:avLst/>
          </a:prstGeom>
          <a:noFill/>
          <a:ln w="7144">
            <a:solidFill>
              <a:srgbClr val="DCE9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83228" y="4429125"/>
            <a:ext cx="0" cy="385763"/>
          </a:xfrm>
          <a:prstGeom prst="line">
            <a:avLst/>
          </a:prstGeom>
          <a:noFill/>
          <a:ln w="7144">
            <a:solidFill>
              <a:srgbClr val="DCE9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811316"/>
            <a:ext cx="8229600" cy="0"/>
          </a:xfrm>
          <a:prstGeom prst="line">
            <a:avLst/>
          </a:prstGeom>
          <a:noFill/>
          <a:ln w="7144">
            <a:solidFill>
              <a:srgbClr val="DCE9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7916" y="4429125"/>
            <a:ext cx="0" cy="385763"/>
          </a:xfrm>
          <a:prstGeom prst="line">
            <a:avLst/>
          </a:prstGeom>
          <a:noFill/>
          <a:ln w="21431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794" y="454342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6E6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50" name="Text 48"/>
          <p:cNvSpPr/>
          <p:nvPr/>
        </p:nvSpPr>
        <p:spPr>
          <a:xfrm>
            <a:off x="892969" y="4549453"/>
            <a:ext cx="7629525" cy="15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0E3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stage reuses the same deterministic safety layer — new input channels, unchanged guarantees.</a:t>
            </a:r>
            <a:endParaRPr lang="en-US" sz="81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0367812611-y573w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3A3D">
              <a:alpha val="8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09106" y="1387115"/>
            <a:ext cx="214313" cy="7144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454981" y="1321036"/>
            <a:ext cx="22339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161" kern="0" dirty="0">
                <a:solidFill>
                  <a:srgbClr val="E6F4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MSAADA · HELP, BEFORE CRISIS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20469" y="1387115"/>
            <a:ext cx="214313" cy="7144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74320" y="1646076"/>
            <a:ext cx="8595360" cy="126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69"/>
              </a:lnSpc>
              <a:buNone/>
            </a:pPr>
            <a:r>
              <a:rPr lang="en-US" sz="2475" b="1" spc="-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earliest signals are already in the community. We built the layer that finally hears them.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4371975" y="3015109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47776" y="3207990"/>
            <a:ext cx="36484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90,000+</a:t>
            </a:r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CHVs · </a:t>
            </a:r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</a:t>
            </a:r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counties · one deterministic safety layer.</a:t>
            </a:r>
            <a:endParaRPr lang="en-US" sz="1013" dirty="0"/>
          </a:p>
        </p:txBody>
      </p:sp>
      <p:sp>
        <p:nvSpPr>
          <p:cNvPr id="10" name="Shape 7"/>
          <p:cNvSpPr/>
          <p:nvPr/>
        </p:nvSpPr>
        <p:spPr>
          <a:xfrm>
            <a:off x="457200" y="4634508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77649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35794" y="4766667"/>
            <a:ext cx="335008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github.com/Roy-Wanyoike/msaada · Demo: seeded automatically, works on first load</a:t>
            </a:r>
            <a:endParaRPr lang="en-US" sz="703" dirty="0"/>
          </a:p>
        </p:txBody>
      </p:sp>
      <p:sp>
        <p:nvSpPr>
          <p:cNvPr id="13" name="Text 10"/>
          <p:cNvSpPr/>
          <p:nvPr/>
        </p:nvSpPr>
        <p:spPr>
          <a:xfrm>
            <a:off x="5869372" y="477649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6047966" y="4766667"/>
            <a:ext cx="263883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Kenya Red Cross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FFFFF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1199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Befrienders Kenya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FFFFF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+254 722 178 177</a:t>
            </a:r>
            <a:endParaRPr lang="en-US" sz="70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2026-09-25T20:23:34Z</dcterms:created>
  <dcterms:modified xsi:type="dcterms:W3CDTF">2026-09-25T20:23:34Z</dcterms:modified>
</cp:coreProperties>
</file>